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D1620">
              <a:alpha val="30000"/>
            </a:srgbClr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A0D14">
              <a:alpha val="50000"/>
            </a:srgbClr>
          </a:solidFill>
          <a:ln w="12700">
            <a:solidFill>
              <a:srgbClr val="3A0D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73152" cy="182880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STARTUP PROJECT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9E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VineLedger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Compliance-first winery revenue tokenization on the XRP Ledger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D1620">
              <a:alpha val="60000"/>
            </a:srgbClr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future wine sales into programmable, auditable financing on XRPL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E8D8B4"/>
          </a:solidFill>
          <a:ln w="12700">
            <a:solidFill>
              <a:srgbClr val="E8D8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Problem · UVP · Users · Token · Business Model · Competitive · GTM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146304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4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6642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· Transaction flow · Live Demo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54864" cy="146304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96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3558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landscape · MiCA · Securities · KYC/AML · Limitations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54864" cy="146304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8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3558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Team · Key risks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presentation +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  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€130B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wine sector contribution to EU GDP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71600"/>
            <a:ext cx="54864" cy="15087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share of global wine production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71600"/>
            <a:ext cx="54864" cy="15087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&amp; indirect jobs in EU wine chain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371600"/>
            <a:ext cx="54864" cy="15087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€35.9B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03720" y="21214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wine export value (2024, OIV)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83280"/>
            <a:ext cx="54864" cy="59436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Wineries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Perrin, Antinori, Torres — large groups with existing capital access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383280"/>
            <a:ext cx="54864" cy="59436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Wine Investment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Vinovest — centralized custody &amp; managed portfolios, not direct winery infrastructure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114800"/>
            <a:ext cx="54864" cy="59436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Wine Projects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— tokenization &amp; traceability, less focus on institutional financing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411480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114800"/>
            <a:ext cx="54864" cy="59436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Platforms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tokenization infra — no winery-specific sourcing, underwriting or distribution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European Commission (2024), OIV State of the World Vine and Wine Sector (April 2025)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  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Proof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solidFill>
            <a:srgbClr val="2A0B10"/>
          </a:solidFill>
          <a:ln w="12700">
            <a:solidFill>
              <a:srgbClr val="2A0B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618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mid-sized wineries face expensive, limited financing for long production cycles — while investors have almost no efficient, regulated way to access winery-linked cash flows.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060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54864" cy="251460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Pressure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2024 global production: 226M hL — lowest in 60+ years (OIV)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EU demand declining; climate stress accelerating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Changing consumer preferences hit traditional wineries hardest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240280"/>
            <a:ext cx="26060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240280"/>
            <a:ext cx="54864" cy="251460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Financing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€62B unmet bank-financing demand for EU farmers (2022)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33832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€5.5B financing gap for agri-food SMEs (EC, Oct 2023)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39776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Traditional lenders = high friction, geography-limited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6060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240280"/>
            <a:ext cx="54864" cy="251460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Access Models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Wine platforms = centralized custody, not direct fundraising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Web3 wine = traceability focus, not institutional financing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9776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Private placements = opaque, high ticket size, slow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  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Proposition &amp; Target Users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77724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6187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turn a winery's future sales into a programmable, auditable, and compliant financing product on the XRP Ledger.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76272"/>
            <a:ext cx="54864" cy="8229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311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Revenue-linked financing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against future winery revenues — not speculation, not bottles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176272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176272"/>
            <a:ext cx="54864" cy="8229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2311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Fractional investor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ticket sizes, transparent payout logic, optional secondary liquidity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76272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76272"/>
            <a:ext cx="54864" cy="82296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2311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Compliance-aware controls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gateway, allow-listing, freeze controls, audit trail — built-in from day 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54864" cy="150876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Wineries &amp; SPVs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" y="39136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working capital via token issuance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16966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Broader investor base beyond traditional lenders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425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Lower dependence on banks &amp; distributors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46817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Marketing upside — turn fans into investors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39319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474720"/>
            <a:ext cx="54864" cy="150876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56048" y="39136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Smaller minimum ticket sizes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56048" y="416966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to hard-to-reach RWA theme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56048" y="4425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payout logic on-chain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46817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Optional secondary liquidity (approved wallets only)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  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Design &amp; Business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8229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4864" cy="150876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00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5648" y="170078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regulated fungible token (RPT) per issuance — no native platform token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9568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55648" y="195681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"Rioja 2027 Reserve SPV" — 1,000,000 tokens at €1/token, 12% revenue share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212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55648" y="221284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RequireAuth + authorized trust lines + freeze capability + lockup enforcement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55648" y="246888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semi-annual pro-rata distribution based on audited off-chain wine sales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724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NFT: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55648" y="2724912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Non-financial bottle-provenance NFT for consumer engagement — no profit rights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93592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93592"/>
            <a:ext cx="54864" cy="132588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75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structuring fee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593592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3593592"/>
            <a:ext cx="54864" cy="132588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3675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C4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69748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servicing &amp; reporting fee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593592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593592"/>
            <a:ext cx="54864" cy="132588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675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96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80060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secondary transfer fee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593592"/>
            <a:ext cx="1920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3593592"/>
            <a:ext cx="54864" cy="1325880"/>
          </a:xfrm>
          <a:prstGeom prst="rect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675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903720" y="4206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winery reporting tools licence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  BUSINESS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 &amp; Go-To-Market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169164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E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E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E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XRPL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E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B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E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Winery Financing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B1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Loans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Vinovest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OpenVino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5D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RWA Platforms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6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0B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VineLedger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96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429000"/>
            <a:ext cx="54864" cy="155448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5021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1–2 pilot wineries in Spain or France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 jurisdiction, professional investors only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4626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issuance tied to one vintage/product line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91840" y="34290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3429000"/>
            <a:ext cx="54864" cy="155448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0" y="35021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37947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4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5–10 wineries with standardised SPV templates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474720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Simple investor dashboard + secondary transfers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74720" y="4626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 wine clubs, HNWIs, family offices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26480" y="34290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3429000"/>
            <a:ext cx="54864" cy="155448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5021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09360" y="37947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96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to multiple EU regions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309360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Provenance NFTs + bottle redemption features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09360" y="4626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Adjacent: olive oil, premium agri-food assets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II  TECHNICAL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 &amp; Transaction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86868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39903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Winery / SPV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Portal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755648"/>
            <a:ext cx="685800" cy="0"/>
          </a:xfrm>
          <a:prstGeom prst="line">
            <a:avLst/>
          </a:prstGeom>
          <a:noFill/>
          <a:ln w="19050">
            <a:solidFill>
              <a:srgbClr val="B3853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606040" y="1325880"/>
            <a:ext cx="1920240" cy="868680"/>
          </a:xfrm>
          <a:prstGeom prst="rect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139903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AML · Sanctions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755648"/>
            <a:ext cx="685800" cy="0"/>
          </a:xfrm>
          <a:prstGeom prst="line">
            <a:avLst/>
          </a:prstGeom>
          <a:noFill/>
          <a:ln w="19050">
            <a:solidFill>
              <a:srgbClr val="B3853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754880" y="1325880"/>
            <a:ext cx="1920240" cy="86868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39903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Issuer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755648"/>
            <a:ext cx="685800" cy="0"/>
          </a:xfrm>
          <a:prstGeom prst="line">
            <a:avLst/>
          </a:prstGeom>
          <a:noFill/>
          <a:ln w="19050">
            <a:solidFill>
              <a:srgbClr val="B3853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903720" y="1325880"/>
            <a:ext cx="1920240" cy="86868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76872" y="1399032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" cy="566928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743200"/>
            <a:ext cx="384048" cy="384048"/>
          </a:xfrm>
          <a:prstGeom prst="ellipse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7249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Winery submits SPV to onboarding portal; issuer account created on XRPL Testnet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19272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19272"/>
            <a:ext cx="54864" cy="566928"/>
          </a:xfrm>
          <a:prstGeom prst="rect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410712"/>
            <a:ext cx="384048" cy="384048"/>
          </a:xfrm>
          <a:prstGeom prst="ellipse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33924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completes KYC/AML off-chain; policy gateway approves wallet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86784"/>
            <a:ext cx="54864" cy="566928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078224"/>
            <a:ext cx="384048" cy="38404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" y="405993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opens Trust Line → Issuer authorizes via RequireAuth (allow-list)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65176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651760"/>
            <a:ext cx="54864" cy="566928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2743200"/>
            <a:ext cx="384048" cy="38404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7249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sends subscription → Treasury funded; tokens minted &amp; delivered to approved wallet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319272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19272"/>
            <a:ext cx="54864" cy="566928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3410712"/>
            <a:ext cx="384048" cy="384048"/>
          </a:xfrm>
          <a:prstGeom prst="ellipse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33924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sales reported off-chain; audit cycle closes → Payout distributed to investor wallet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986784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986784"/>
            <a:ext cx="54864" cy="566928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4078224"/>
            <a:ext cx="384048" cy="384048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405993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hold: issuer can freeze trust line; release after manual review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2A0B10"/>
          </a:solidFill>
          <a:ln w="12700">
            <a:solidFill>
              <a:srgbClr val="2A0B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817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XRPL: native trust-line tokens (production-ready), RequireAuth, freeze controls, multisig, DEX, 3-5s settlement at fractions of a cent — no heavy smart-contract stack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6400800" cy="6400800"/>
          </a:xfrm>
          <a:prstGeom prst="ellipse">
            <a:avLst/>
          </a:prstGeom>
          <a:solidFill>
            <a:srgbClr val="4D1620">
              <a:alpha val="35000"/>
            </a:srgbClr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II  TECHNICAL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9E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VineLedger Issuance Desk — XRPL Testnet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Fresh Deal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issuer, treasury, investor wallets on XRPL Testnet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92024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201168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0116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359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opens trust line — expresses willingness to hold VIN token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1168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20116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359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authorizes investor wallet via policy gateway approval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92024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201168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20116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359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sends XRP into the SPV treasury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10896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3108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Token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4564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delivers 1,000 VIN revenue-participation tokens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301752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51760" y="310896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3108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4564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distributes 1.50 XRP revenue share after sales report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017520"/>
            <a:ext cx="192024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B385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108960"/>
            <a:ext cx="347472" cy="347472"/>
          </a:xfrm>
          <a:prstGeom prst="ellipse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3108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/ Release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34564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hold enacted — then released after manual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85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not just a token mint. It's a full compliant financing flow: onboarding, allow-listing, issuance, monitoring, and payout."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III  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Landscape &amp; Compliance Strategy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618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is in force — but MiCA excludes crypto-assets that qualify as financial instruments. Because VineLedger tokens give revenue/profit participation, they are more likely treated as transferable securities — so we design for securities-style compliance, not MiCA utility tokens.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66544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66544"/>
            <a:ext cx="54864" cy="118872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57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Revenue-share tokens = likely securities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Embrace classification. Structure pilot as a regulated or exempt private placement through a licensed SPV.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066544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066544"/>
            <a:ext cx="54864" cy="118872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57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Cross-border distribution is complex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5054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 in one jurisdiction (Spain / France). Expand only after legal templates are standardised.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92424"/>
            <a:ext cx="54864" cy="1188720"/>
          </a:xfrm>
          <a:prstGeom prst="rect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83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Public-chain assets vs. transfer restrictions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313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XRPL RequireAuth + allow-listing + freeze controls + policy gateway checks enforce all restrictions on-chain.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392424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392424"/>
            <a:ext cx="54864" cy="118872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483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Off-chain sales data can be manipulated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8313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Auditor review, periodic attestation, multisig payout approvals, and waterfall reconciliation required.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2A0B10"/>
          </a:solidFill>
          <a:ln w="12700">
            <a:solidFill>
              <a:srgbClr val="2A0B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817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Gateway checks: identity · sanctions screening · jurisdiction restrictions · source-of-funds · accreditation · holding limits · transfer lockups  |  GDPR: all personal data kept off-chain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IV 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8229600" cy="54864"/>
          </a:xfrm>
          <a:prstGeom prst="rect">
            <a:avLst/>
          </a:prstGeom>
          <a:solidFill>
            <a:srgbClr val="E8D8B4"/>
          </a:solidFill>
          <a:ln w="12700">
            <a:solidFill>
              <a:srgbClr val="E8D8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1353312"/>
            <a:ext cx="201168" cy="20116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54864" cy="3200400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0–3 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legal structure with counsel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 first pilot winery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testnet issuance 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mock investor 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8416" y="1353312"/>
            <a:ext cx="201168" cy="201168"/>
          </a:xfrm>
          <a:prstGeom prst="ellipse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664208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664208"/>
            <a:ext cx="54864" cy="3200400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7373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4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months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214884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first pilot issuance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7432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 first payout cycle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33756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Publish first transparency report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31536" y="1353312"/>
            <a:ext cx="201168" cy="201168"/>
          </a:xfrm>
          <a:prstGeom prst="ellipse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64208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664208"/>
            <a:ext cx="54864" cy="3200400"/>
          </a:xfrm>
          <a:prstGeom prst="rect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7373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months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14884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3–5 wineries onboarded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7432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secondary transfer workflow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33756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provenance NFT module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34656" y="1353312"/>
            <a:ext cx="201168" cy="201168"/>
          </a:xfrm>
          <a:prstGeom prst="ellipse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664208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1664208"/>
            <a:ext cx="54864" cy="3200400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7373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12–24 months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214884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Multi-EU-region expansion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7432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with regulated trading venue / AIF manager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333756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Extend to olive oil / agri-food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2A0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IV 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0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Key Risks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4864" cy="43891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700784"/>
            <a:ext cx="292608" cy="29260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Business Lead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27632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27632"/>
            <a:ext cx="54864" cy="43891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1700784"/>
            <a:ext cx="292608" cy="29260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Blockchain Engineer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627632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627632"/>
            <a:ext cx="54864" cy="43891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700784"/>
            <a:ext cx="292608" cy="29260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 Engineer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157984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157984"/>
            <a:ext cx="54864" cy="43891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" y="2231136"/>
            <a:ext cx="292608" cy="29260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2249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 Lead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157984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157984"/>
            <a:ext cx="54864" cy="43891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0712" y="2231136"/>
            <a:ext cx="292608" cy="29260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2249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Structuring Lead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157984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157984"/>
            <a:ext cx="54864" cy="43891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5352" y="2231136"/>
            <a:ext cx="292608" cy="292608"/>
          </a:xfrm>
          <a:prstGeom prst="ellipse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2249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Winery Partnerships &amp; Operations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172968"/>
            <a:ext cx="39319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172968"/>
            <a:ext cx="54864" cy="758952"/>
          </a:xfrm>
          <a:prstGeom prst="rect">
            <a:avLst/>
          </a:prstGeom>
          <a:solidFill>
            <a:srgbClr val="8C4126"/>
          </a:solidFill>
          <a:ln w="12700">
            <a:solidFill>
              <a:srgbClr val="8C41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Legal misclassification / distribution breach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3520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Restricted pilot → outside counsel → no open retail sale in MVP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172968"/>
            <a:ext cx="39319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172968"/>
            <a:ext cx="54864" cy="758952"/>
          </a:xfrm>
          <a:prstGeom prst="rect">
            <a:avLst/>
          </a:prstGeom>
          <a:solidFill>
            <a:srgbClr val="4D1620"/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Low secondary liquidity for investors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520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Focus first on yield &amp; transparency; add periodic buyback windows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41648"/>
            <a:ext cx="39319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4041648"/>
            <a:ext cx="54864" cy="758952"/>
          </a:xfrm>
          <a:prstGeom prst="rect">
            <a:avLst/>
          </a:prstGeom>
          <a:solidFill>
            <a:srgbClr val="496142"/>
          </a:solidFill>
          <a:ln w="12700">
            <a:solidFill>
              <a:srgbClr val="4961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Winery underperformance or climate shock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4389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Conservative underwriting, crop insurance where possible, diversify by region &amp; vintage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041648"/>
            <a:ext cx="39319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8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041648"/>
            <a:ext cx="54864" cy="758952"/>
          </a:xfrm>
          <a:prstGeom prst="rect">
            <a:avLst/>
          </a:prstGeom>
          <a:solidFill>
            <a:srgbClr val="5A7C8A"/>
          </a:solidFill>
          <a:ln w="12700">
            <a:solidFill>
              <a:srgbClr val="5A7C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Bad off-chain data or fraud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37760" y="4389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Independent auditors, multisig approvals, attested disclosures, waterfall rules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D1620">
              <a:alpha val="40000"/>
            </a:srgbClr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3A0D14">
              <a:alpha val="50000"/>
            </a:srgbClr>
          </a:solidFill>
          <a:ln w="12700">
            <a:solidFill>
              <a:srgbClr val="3A0D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0"/>
            <a:ext cx="73152" cy="2286000"/>
          </a:xfrm>
          <a:prstGeom prst="rect">
            <a:avLst/>
          </a:prstGeom>
          <a:solidFill>
            <a:srgbClr val="B3853E"/>
          </a:solidFill>
          <a:ln w="12700">
            <a:solidFill>
              <a:srgbClr val="B385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325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9E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VineLedger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38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Compliance-first winery revenue tokenization on XRPL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using blockchain because it is trendy — using it because this financing product needs programmable transfer rules, fractional access, and transparent payouts."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352044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MVP does not tokenize land title. It tokenizes a compliant economic right issued by an SPV, with controls built in from day one."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0" y="402336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"XRPL gives us issuance, allow-listing, freeze controls, escrow, and fast settlement without a heavy smart-contract stack."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D1620">
              <a:alpha val="60000"/>
            </a:srgbClr>
          </a:solidFill>
          <a:ln w="12700">
            <a:solidFill>
              <a:srgbClr val="4D16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E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VineLedger</dc:title>
  <dc:subject>PptxGenJS Presentation</dc:subject>
  <dc:creator>PptxGenJS</dc:creator>
  <cp:lastModifiedBy>PptxGenJS</cp:lastModifiedBy>
  <cp:revision>1</cp:revision>
  <dcterms:created xsi:type="dcterms:W3CDTF">2026-04-20T13:54:59Z</dcterms:created>
  <dcterms:modified xsi:type="dcterms:W3CDTF">2026-04-20T13:54:59Z</dcterms:modified>
</cp:coreProperties>
</file>